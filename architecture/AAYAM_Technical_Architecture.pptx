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11460175" cy="8229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38BDF8"/>
                </a:solidFill>
              </a:defRPr>
            </a:pPr>
            <a:r>
              <a:t>AAYAM — TECHNICAL ARCHITECTURE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India's Public Infrastructure Intelligence Layer • End-to-End Implemented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3566160" cy="23774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1. PRESENTATION LAYER (UI)</a:t>
            </a:r>
          </a:p>
          <a:p>
            <a:pPr>
              <a:defRPr sz="900">
                <a:solidFill>
                  <a:srgbClr val="E2E8F0"/>
                </a:solidFill>
              </a:defRPr>
            </a:pPr>
            <a:r>
              <a:t>• React 19 + Vite: SPA Architecture with /api proxy</a:t>
            </a:r>
          </a:p>
          <a:p>
            <a:pPr>
              <a:defRPr sz="900">
                <a:solidFill>
                  <a:srgbClr val="E2E8F0"/>
                </a:solidFill>
              </a:defRPr>
            </a:pPr>
            <a:r>
              <a:t>• Tailwind CSS: Dark slate/cyan high-contrast design</a:t>
            </a:r>
          </a:p>
          <a:p>
            <a:pPr>
              <a:defRPr sz="900">
                <a:solidFill>
                  <a:srgbClr val="E2E8F0"/>
                </a:solidFill>
              </a:defRPr>
            </a:pPr>
            <a:r>
              <a:t>• Leaflet Map: Interactive GIS canvas with custom status pins</a:t>
            </a:r>
          </a:p>
          <a:p>
            <a:pPr>
              <a:defRPr sz="900">
                <a:solidFill>
                  <a:srgbClr val="E2E8F0"/>
                </a:solidFill>
              </a:defRPr>
            </a:pPr>
            <a:r>
              <a:t>• 5 Views: Dashboard, Asset Registry, Map, Digital Heartbeat, Copilot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280160"/>
            <a:ext cx="3931920" cy="23774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2D3EE"/>
                </a:solidFill>
              </a:defRPr>
            </a:pPr>
            <a:r>
              <a:t>2. APPLICATION &amp; REST API (FASTAPI)</a:t>
            </a:r>
          </a:p>
          <a:p>
            <a:pPr>
              <a:defRPr sz="900">
                <a:solidFill>
                  <a:srgbClr val="E2E8F0"/>
                </a:solidFill>
              </a:defRPr>
            </a:pPr>
            <a:r>
              <a:t>• GET /api/assets &amp; /api/assets/summary/stats: Registry &amp; Stats</a:t>
            </a:r>
          </a:p>
          <a:p>
            <a:pPr>
              <a:defRPr sz="900">
                <a:solidFill>
                  <a:srgbClr val="E2E8F0"/>
                </a:solidFill>
              </a:defRPr>
            </a:pPr>
            <a:r>
              <a:t>• GET /api/assets/{id}/heartbeat: Dynamic 4-Factor Risk Engine</a:t>
            </a:r>
          </a:p>
          <a:p>
            <a:pPr>
              <a:defRPr sz="900">
                <a:solidFill>
                  <a:srgbClr val="E2E8F0"/>
                </a:solidFill>
              </a:defRPr>
            </a:pPr>
            <a:r>
              <a:t>• POST /api/copilot/ask: Evidence-Grounded Hybrid RAG Endpoint</a:t>
            </a:r>
          </a:p>
          <a:p>
            <a:pPr>
              <a:defRPr sz="900">
                <a:solidFill>
                  <a:srgbClr val="E2E8F0"/>
                </a:solidFill>
              </a:defRPr>
            </a:pPr>
            <a:r>
              <a:t>• POST /api/inspections/{id}/verify: Closed-Loop Certification</a:t>
            </a:r>
          </a:p>
          <a:p>
            <a:pPr>
              <a:defRPr sz="900">
                <a:solidFill>
                  <a:srgbClr val="E2E8F0"/>
                </a:solidFill>
              </a:defRPr>
            </a:pPr>
            <a:r>
              <a:t>• Pydantic v2 Type Safety &amp; CORS Middleware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1280160"/>
            <a:ext cx="3410712" cy="23774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A5B4FC"/>
                </a:solidFill>
              </a:defRPr>
            </a:pPr>
            <a:r>
              <a:t>3. INTELLIGENCE &amp; REASONING</a:t>
            </a:r>
          </a:p>
          <a:p>
            <a:pPr>
              <a:defRPr sz="900">
                <a:solidFill>
                  <a:srgbClr val="E2E8F0"/>
                </a:solidFill>
              </a:defRPr>
            </a:pPr>
            <a:r>
              <a:t>• Digital Heartbeat Engine: Structural (35%), Env (25%), Compliance (25%), Load (15%)</a:t>
            </a:r>
          </a:p>
          <a:p>
            <a:pPr>
              <a:defRPr sz="900">
                <a:solidFill>
                  <a:srgbClr val="E2E8F0"/>
                </a:solidFill>
              </a:defRPr>
            </a:pPr>
            <a:r>
              <a:t>• Ingestion &amp; DocumentStore: pypdf parsing, page extraction, uncertain-asset flagging</a:t>
            </a:r>
          </a:p>
          <a:p>
            <a:pPr>
              <a:defRPr sz="900">
                <a:solidFill>
                  <a:srgbClr val="E2E8F0"/>
                </a:solidFill>
              </a:defRPr>
            </a:pPr>
            <a:r>
              <a:t>• Citation Provenance: Explicit [Ref 1], [Ref 2] evidence grounding</a:t>
            </a:r>
          </a:p>
          <a:p>
            <a:pPr>
              <a:defRPr sz="900">
                <a:solidFill>
                  <a:srgbClr val="E2E8F0"/>
                </a:solidFill>
              </a:defRPr>
            </a:pPr>
            <a:r>
              <a:t>• LLM Bridge (Gemini/OpenAI) with Retrieval Fallback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840480"/>
            <a:ext cx="5486400" cy="18288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4D399"/>
                </a:solidFill>
              </a:defRPr>
            </a:pPr>
            <a:r>
              <a:t>4. DATA PERSISTENCE LAYER (SQLITE)</a:t>
            </a:r>
          </a:p>
          <a:p>
            <a:pPr>
              <a:defRPr sz="900">
                <a:solidFill>
                  <a:srgbClr val="E2E8F0"/>
                </a:solidFill>
              </a:defRPr>
            </a:pPr>
            <a:r>
              <a:t>• assets Table: Coordinates, construction year, status, risk score, flags, data source</a:t>
            </a:r>
          </a:p>
          <a:p>
            <a:pPr>
              <a:defRPr sz="900">
                <a:solidFill>
                  <a:srgbClr val="E2E8F0"/>
                </a:solidFill>
              </a:defRPr>
            </a:pPr>
            <a:r>
              <a:t>• inspections Table: Inspection date, findings, actions, status, verification notes</a:t>
            </a:r>
          </a:p>
          <a:p>
            <a:pPr>
              <a:defRPr sz="900">
                <a:solidFill>
                  <a:srgbClr val="E2E8F0"/>
                </a:solidFill>
              </a:defRPr>
            </a:pPr>
            <a:r>
              <a:t>• Document Store: Chunks with page numbers, document names, agency timestamps</a:t>
            </a:r>
          </a:p>
          <a:p>
            <a:pPr>
              <a:defRPr sz="900">
                <a:solidFill>
                  <a:srgbClr val="E2E8F0"/>
                </a:solidFill>
              </a:defRPr>
            </a:pPr>
            <a:r>
              <a:t>• Zero-Config SQLite Engine with Automatic Lifespan Seeder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840480"/>
            <a:ext cx="5696712" cy="18288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BBF24"/>
                </a:solidFill>
              </a:defRPr>
            </a:pPr>
            <a:r>
              <a:t>5. EXTERNAL SERVICES &amp; EVIDENCE REPOSITORY</a:t>
            </a:r>
          </a:p>
          <a:p>
            <a:pPr>
              <a:defRPr sz="900">
                <a:solidFill>
                  <a:srgbClr val="E2E8F0"/>
                </a:solidFill>
              </a:defRPr>
            </a:pPr>
            <a:r>
              <a:t>• OpenStreetMap: Permitted tile.openstreetmap.org tiles (Zero API key required)</a:t>
            </a:r>
          </a:p>
          <a:p>
            <a:pPr>
              <a:defRPr sz="900">
                <a:solidFill>
                  <a:srgbClr val="E2E8F0"/>
                </a:solidFill>
              </a:defRPr>
            </a:pPr>
            <a:r>
              <a:t>• Engineering Audit Documents: Mandovi Scour PDF, Chambal WTP TXT, Culvert TXT</a:t>
            </a:r>
          </a:p>
          <a:p>
            <a:pPr>
              <a:defRPr sz="900">
                <a:solidFill>
                  <a:srgbClr val="E2E8F0"/>
                </a:solidFill>
              </a:defRPr>
            </a:pPr>
            <a:r>
              <a:t>• LLM Providers (Optional): Gemini 1.5 Flash / GPT-4o-mini via env variables</a:t>
            </a:r>
          </a:p>
          <a:p>
            <a:pPr>
              <a:defRPr sz="900">
                <a:solidFill>
                  <a:srgbClr val="E2E8F0"/>
                </a:solidFill>
              </a:defRPr>
            </a:pPr>
            <a:r>
              <a:t>• Provenance Guarantee: Strict separation of facts from recommendations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5852160"/>
            <a:ext cx="11460175" cy="7315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B7185"/>
                </a:solidFill>
              </a:defRPr>
            </a:pPr>
            <a:r>
              <a:t>GOVERNANCE &amp; TRUST: Human Outcome Verification • Empirical Fact vs Recommendation Split • Synthetic Data Disclosed • Zero Hallucination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Implementation Legend:  [Green] Implemented &amp; Verified in Code   [Amber] Labeled Synthetic Prototype Records   [Purple] Configurable External Providers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